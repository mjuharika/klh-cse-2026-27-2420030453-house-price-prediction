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4" r:id="rId5"/>
    <p:sldId id="277" r:id="rId6"/>
    <p:sldId id="278" r:id="rId7"/>
    <p:sldId id="263" r:id="rId8"/>
    <p:sldId id="265" r:id="rId9"/>
    <p:sldId id="266" r:id="rId10"/>
    <p:sldId id="268" r:id="rId11"/>
    <p:sldId id="273" r:id="rId12"/>
    <p:sldId id="274" r:id="rId13"/>
    <p:sldId id="27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4EFB70-7C34-4744-992F-64036FFC8257}" v="2" dt="2026-08-12T03:47:49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371600"/>
            <a:ext cx="3291840" cy="32918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10881360" y="-548640"/>
            <a:ext cx="1828800" cy="1828800"/>
          </a:xfrm>
          <a:prstGeom prst="ellipse">
            <a:avLst/>
          </a:prstGeom>
          <a:solidFill>
            <a:srgbClr val="C89B3C"/>
          </a:solidFill>
        </p:spPr>
      </p:sp>
      <p:sp>
        <p:nvSpPr>
          <p:cNvPr id="4" name="Shape 2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ESTATE ANALYTICS   |   MACHINE LEARNING   |   DATA ANALYTICS &amp; VISUALIZATION   |   EXPLAINABLE AI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Real Estate Analytics: A Comparative Analysis of Machine Learning Frameworks for House Price Prediction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A1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REVIEW –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5577840" cy="1600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960120" y="43159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–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461772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CH. Shalini  —  2420030284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M. J. U. Harika  —  2420030453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K. Aneesha  —  2420030589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20840" y="4315968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9AA1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Faculty Guide:  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K Swapnika
</a:t>
            </a:r>
            <a:r>
              <a:rPr lang="en-US" sz="1250" b="1" dirty="0">
                <a:solidFill>
                  <a:srgbClr val="9AA1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Department:  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Science and Engineering
</a:t>
            </a:r>
            <a:r>
              <a:rPr lang="en-US" sz="1250" b="1" dirty="0">
                <a:solidFill>
                  <a:srgbClr val="9AA1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University:  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KLH University
</a:t>
            </a:r>
            <a:r>
              <a:rPr lang="en-US" sz="1250" b="1" dirty="0">
                <a:solidFill>
                  <a:srgbClr val="9AA1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Year:  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– 2027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1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Refined Title &amp; Project Domain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822960" y="1874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REFINED TITLE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Real Estate Analytics: A Comparative Analysis of Machine Learning Frameworks for House Price Prediction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the title was refined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694944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title is refined from the initial comparative-analysis topic based on recent research in machine learning-based property valuation. The proposed work retains comparative evaluation and extends it by integrating feature engineering, ensemble learning and Explainable Artificial Intelligence (XAI).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18120" y="3337560"/>
            <a:ext cx="37947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35204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DOMAIN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92440" y="37947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Analytics &amp; Visualization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4389120"/>
            <a:ext cx="32918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Department: </a:t>
            </a: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Science and Engineering
</a:t>
            </a: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University: </a:t>
            </a: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KLH University
</a:t>
            </a: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Faculty Guide: </a:t>
            </a: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K Swapnika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Review I  •  House Price Prediction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7733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78485" y="1662430"/>
            <a:ext cx="6279515" cy="1647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alt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House prices are influenced by multiple factors, making accurate prediction a complex task. This project presents a comparative machine learning framework using Decision Tree, Random Forest, XGBoost, and CatBoost, with comprehensive EDA, preprocessing, and feature engineering. Model performance is evaluated using MAE, MSE, RMSE, R², and MAPE, while SHAP and LIME provide interpretable insights into the key factors influencing house price predictions.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4224655"/>
            <a:ext cx="685800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777240" y="4462145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AIM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4645025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develop an explainable ensemble learning framework that improves house price prediction while identifying the major factors influencing the predicted price.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1470025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INFLUENCING FACTORS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790065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6992" y="1936369"/>
            <a:ext cx="274320" cy="274320"/>
          </a:xfrm>
          <a:prstGeom prst="ellipse">
            <a:avLst/>
          </a:prstGeom>
          <a:solidFill>
            <a:srgbClr val="C89B3C"/>
          </a:solidFill>
        </p:spPr>
      </p:sp>
      <p:sp>
        <p:nvSpPr>
          <p:cNvPr id="12" name="Text 10"/>
          <p:cNvSpPr/>
          <p:nvPr/>
        </p:nvSpPr>
        <p:spPr>
          <a:xfrm>
            <a:off x="8366760" y="1790065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2448433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36992" y="2594737"/>
            <a:ext cx="274320" cy="274320"/>
          </a:xfrm>
          <a:prstGeom prst="ellipse">
            <a:avLst/>
          </a:prstGeom>
          <a:solidFill>
            <a:srgbClr val="C89B3C"/>
          </a:solidFill>
        </p:spPr>
      </p:sp>
      <p:sp>
        <p:nvSpPr>
          <p:cNvPr id="15" name="Text 13"/>
          <p:cNvSpPr/>
          <p:nvPr/>
        </p:nvSpPr>
        <p:spPr>
          <a:xfrm>
            <a:off x="8366760" y="2448433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Property Area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0" y="3106801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36992" y="3253105"/>
            <a:ext cx="274320" cy="274320"/>
          </a:xfrm>
          <a:prstGeom prst="ellipse">
            <a:avLst/>
          </a:prstGeom>
          <a:solidFill>
            <a:srgbClr val="C89B3C"/>
          </a:solidFill>
        </p:spPr>
      </p:sp>
      <p:sp>
        <p:nvSpPr>
          <p:cNvPr id="18" name="Text 16"/>
          <p:cNvSpPr/>
          <p:nvPr/>
        </p:nvSpPr>
        <p:spPr>
          <a:xfrm>
            <a:off x="8366760" y="3106801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 of Rooms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0" y="3765169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36992" y="3911473"/>
            <a:ext cx="274320" cy="274320"/>
          </a:xfrm>
          <a:prstGeom prst="ellipse">
            <a:avLst/>
          </a:prstGeom>
          <a:solidFill>
            <a:srgbClr val="C89B3C"/>
          </a:solidFill>
        </p:spPr>
      </p:sp>
      <p:sp>
        <p:nvSpPr>
          <p:cNvPr id="21" name="Text 19"/>
          <p:cNvSpPr/>
          <p:nvPr/>
        </p:nvSpPr>
        <p:spPr>
          <a:xfrm>
            <a:off x="8366760" y="3765169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Property 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0" y="4423537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6992" y="4569841"/>
            <a:ext cx="274320" cy="274320"/>
          </a:xfrm>
          <a:prstGeom prst="ellipse">
            <a:avLst/>
          </a:prstGeom>
          <a:solidFill>
            <a:srgbClr val="C89B3C"/>
          </a:solidFill>
        </p:spPr>
      </p:sp>
      <p:sp>
        <p:nvSpPr>
          <p:cNvPr id="24" name="Text 22"/>
          <p:cNvSpPr/>
          <p:nvPr/>
        </p:nvSpPr>
        <p:spPr>
          <a:xfrm>
            <a:off x="8366760" y="4423537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5081905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36992" y="5228209"/>
            <a:ext cx="274320" cy="274320"/>
          </a:xfrm>
          <a:prstGeom prst="ellipse">
            <a:avLst/>
          </a:prstGeom>
          <a:solidFill>
            <a:srgbClr val="C89B3C"/>
          </a:solidFill>
        </p:spPr>
      </p:sp>
      <p:sp>
        <p:nvSpPr>
          <p:cNvPr id="27" name="Text 25"/>
          <p:cNvSpPr/>
          <p:nvPr/>
        </p:nvSpPr>
        <p:spPr>
          <a:xfrm>
            <a:off x="8366760" y="5081905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Amenities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Review I  •  House Price Prediction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Preparation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preprocess and prepare house-price data using missing-value treatment, categorical encoding, outlier handling and feature engineering techniques.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011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6400800" y="20116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201168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Implementation &amp; Comparison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0" y="2651760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implement and compare Linear Regression, Random Forest, XGBoost and CatBoost using K-Fold Cross-Validation and evaluation metrics such as MAE, RMSE and R².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1605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16052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Ensemble Development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develop a Stacking Regressor by combining the best-performing machine learning models to improve house-price prediction performance.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1605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6400800" y="41605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416052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Explainability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0" y="4800600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apply SHAP-based Explainable Artificial Intelligence to identify and interpret the most influential features contributing to house-price predictions.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Review I  •  House Price Prediction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A28087-0880-DB61-D929-EAA92CDE43AB}"/>
              </a:ext>
            </a:extLst>
          </p:cNvPr>
          <p:cNvSpPr txBox="1"/>
          <p:nvPr/>
        </p:nvSpPr>
        <p:spPr>
          <a:xfrm>
            <a:off x="681487" y="586596"/>
            <a:ext cx="10679502" cy="120032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cs typeface="Times New Roman" panose="02020603050405020304" pitchFamily="18" charset="0"/>
              </a:rPr>
              <a:t>LITERATURE SURVEY</a:t>
            </a:r>
            <a:endParaRPr lang="en-IN" b="1" dirty="0">
              <a:solidFill>
                <a:schemeClr val="accent4">
                  <a:lumMod val="75000"/>
                </a:schemeClr>
              </a:solidFill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The following recent journal papers were reviewed to understand current machine learning approaches, ensemble methods, explainability techniques and research limitations in house-price prediction and property valuation.</a:t>
            </a:r>
            <a:endParaRPr lang="en-IN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30ABF-FBE9-718A-25EC-1C8DF21CB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586" y="2104845"/>
            <a:ext cx="10274828" cy="404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496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295121-0AC6-B60C-22EB-D7B516F65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235" y="621103"/>
            <a:ext cx="10287529" cy="544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781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Gaps Identified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70532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749808" y="197053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10104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studies compare individual machine learning models, but there is scope for integrating complementary high-performing models into a single ensemble framework.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839212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749808" y="28392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651760"/>
            <a:ext cx="10104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Although recent work combines ensemble learning and Explainable AI, several approaches are region-specific, spatially intensive or designed for specialized valuation environments.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707892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4" name="Text 12"/>
          <p:cNvSpPr/>
          <p:nvPr/>
        </p:nvSpPr>
        <p:spPr>
          <a:xfrm>
            <a:off x="749808" y="37078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520440"/>
            <a:ext cx="10104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AutoML, multimodal and deep-learning approaches can improve prediction but increase implementation and computational complexity.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576572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749808" y="45765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389120"/>
            <a:ext cx="10104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 accuracy is often emphasized more than the interpretability of individual predictions.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5490972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20"/>
          <p:cNvSpPr/>
          <p:nvPr/>
        </p:nvSpPr>
        <p:spPr>
          <a:xfrm>
            <a:off x="749808" y="54909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5257800"/>
            <a:ext cx="101041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practical framework combining feature engineering, model comparison, stacking and SHAP-based explanation remains a suitable research direction for structured house-price data.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Review I  •  House Price Prediction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Novelty / Innovation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822960" y="192024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novelty is not the individual use of ensemble learning or SHAP, since these techniques already exist in recent literature. The proposed innovation is their integration into a single practical house-price prediction pipeline.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4406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218688"/>
            <a:ext cx="365760" cy="365760"/>
          </a:xfrm>
          <a:prstGeom prst="ellipse">
            <a:avLst/>
          </a:prstGeom>
          <a:solidFill>
            <a:srgbClr val="C89B3C"/>
          </a:solidFill>
        </p:spPr>
      </p:sp>
      <p:sp>
        <p:nvSpPr>
          <p:cNvPr id="8" name="Text 6"/>
          <p:cNvSpPr/>
          <p:nvPr/>
        </p:nvSpPr>
        <p:spPr>
          <a:xfrm>
            <a:off x="749808" y="3218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370332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Systematic feature engineering and preprocessing before model comparison.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3017520"/>
            <a:ext cx="54406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3368" y="3218688"/>
            <a:ext cx="365760" cy="365760"/>
          </a:xfrm>
          <a:prstGeom prst="ellipse">
            <a:avLst/>
          </a:prstGeom>
          <a:solidFill>
            <a:srgbClr val="C89B3C"/>
          </a:solidFill>
        </p:spPr>
      </p:sp>
      <p:sp>
        <p:nvSpPr>
          <p:cNvPr id="12" name="Text 10"/>
          <p:cNvSpPr/>
          <p:nvPr/>
        </p:nvSpPr>
        <p:spPr>
          <a:xfrm>
            <a:off x="6373368" y="3218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73368" y="370332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Comparative evaluation of multiple regression models followed by selection of complementary high-performing models.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54406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910328"/>
            <a:ext cx="365760" cy="365760"/>
          </a:xfrm>
          <a:prstGeom prst="ellipse">
            <a:avLst/>
          </a:prstGeom>
          <a:solidFill>
            <a:srgbClr val="C89B3C"/>
          </a:solidFill>
        </p:spPr>
      </p:sp>
      <p:sp>
        <p:nvSpPr>
          <p:cNvPr id="16" name="Text 14"/>
          <p:cNvSpPr/>
          <p:nvPr/>
        </p:nvSpPr>
        <p:spPr>
          <a:xfrm>
            <a:off x="749808" y="49103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" y="539496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of a Stacking Regressor to combine selected models instead of relying only on one individual predictor.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4709160"/>
            <a:ext cx="54406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3368" y="4910328"/>
            <a:ext cx="365760" cy="365760"/>
          </a:xfrm>
          <a:prstGeom prst="ellipse">
            <a:avLst/>
          </a:prstGeom>
          <a:solidFill>
            <a:srgbClr val="C89B3C"/>
          </a:solidFill>
        </p:spPr>
      </p:sp>
      <p:sp>
        <p:nvSpPr>
          <p:cNvPr id="20" name="Text 18"/>
          <p:cNvSpPr/>
          <p:nvPr/>
        </p:nvSpPr>
        <p:spPr>
          <a:xfrm>
            <a:off x="6373368" y="49103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3368" y="539496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of SHAP to the final model to provide understandable feature-level explanations for house-price predictions.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Review I  •  House Price Prediction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FEASIBILITY STUDY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Feasibility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1485" y="1230630"/>
            <a:ext cx="11161395" cy="1586865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3415" y="1273683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653415" y="1273683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47140" y="1560830"/>
            <a:ext cx="10104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Feasibility:</a:t>
            </a:r>
          </a:p>
          <a:p>
            <a:pPr marL="0" indent="0">
              <a:buNone/>
            </a:pPr>
            <a:endParaRPr lang="en-US" altLang="en-US" sz="14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Implemented using Python and standard machine learning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open-source libraries such as Scikit-learn, XGBoost, CatBoost, SHAP, and LIME.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benchmark housing datasets are available for experimentation.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be developed and executed on a standard computer.</a:t>
            </a:r>
          </a:p>
        </p:txBody>
      </p:sp>
      <p:sp>
        <p:nvSpPr>
          <p:cNvPr id="29" name="Shape 2"/>
          <p:cNvSpPr/>
          <p:nvPr/>
        </p:nvSpPr>
        <p:spPr>
          <a:xfrm>
            <a:off x="451485" y="3068955"/>
            <a:ext cx="11161395" cy="16446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3"/>
          <p:cNvSpPr/>
          <p:nvPr/>
        </p:nvSpPr>
        <p:spPr>
          <a:xfrm>
            <a:off x="653415" y="3239643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1" name="Text 4"/>
          <p:cNvSpPr/>
          <p:nvPr/>
        </p:nvSpPr>
        <p:spPr>
          <a:xfrm>
            <a:off x="653415" y="3239643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5"/>
          <p:cNvSpPr/>
          <p:nvPr/>
        </p:nvSpPr>
        <p:spPr>
          <a:xfrm>
            <a:off x="1224280" y="3479165"/>
            <a:ext cx="10104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Economic Feasibility:</a:t>
            </a:r>
          </a:p>
          <a:p>
            <a:pPr marL="0" indent="0">
              <a:buNone/>
            </a:pPr>
            <a:endParaRPr lang="en-US" altLang="en-US" sz="14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specialized paid software is required.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freely available datasets, tools, and open-source libraries.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Requires minimal development and implementation costs.</a:t>
            </a:r>
          </a:p>
        </p:txBody>
      </p:sp>
      <p:sp>
        <p:nvSpPr>
          <p:cNvPr id="33" name="Shape 2"/>
          <p:cNvSpPr/>
          <p:nvPr/>
        </p:nvSpPr>
        <p:spPr>
          <a:xfrm>
            <a:off x="451485" y="4917440"/>
            <a:ext cx="11161395" cy="16446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"/>
          <p:cNvSpPr/>
          <p:nvPr/>
        </p:nvSpPr>
        <p:spPr>
          <a:xfrm>
            <a:off x="653415" y="5088128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5" name="Text 4"/>
          <p:cNvSpPr/>
          <p:nvPr/>
        </p:nvSpPr>
        <p:spPr>
          <a:xfrm>
            <a:off x="653415" y="50881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36" name="Text 5"/>
          <p:cNvSpPr/>
          <p:nvPr/>
        </p:nvSpPr>
        <p:spPr>
          <a:xfrm>
            <a:off x="1247140" y="5375275"/>
            <a:ext cx="10104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Operational Feasibility:</a:t>
            </a:r>
          </a:p>
          <a:p>
            <a:pPr marL="0" indent="0">
              <a:buNone/>
            </a:pPr>
            <a:endParaRPr lang="en-US" altLang="en-US" sz="14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Suitable for an academic machine learning and data analytics project.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workflow is structured, simple, and manageable.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be completed within the planned project duration.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Requires only standard computing resources.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Workflow — Data Flow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2618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594360" y="2377440"/>
            <a:ext cx="117043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10512" y="2377440"/>
            <a:ext cx="138466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48978" y="2377440"/>
            <a:ext cx="12618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</p:spPr>
      </p:sp>
      <p:sp>
        <p:nvSpPr>
          <p:cNvPr id="8" name="Text 6"/>
          <p:cNvSpPr/>
          <p:nvPr/>
        </p:nvSpPr>
        <p:spPr>
          <a:xfrm>
            <a:off x="1994698" y="2377440"/>
            <a:ext cx="117043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(Missing/Outlier/Encoding)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10850" y="2377440"/>
            <a:ext cx="138466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49317" y="2377440"/>
            <a:ext cx="12618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3395037" y="2377440"/>
            <a:ext cx="117043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1189" y="2377440"/>
            <a:ext cx="138466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49655" y="2377440"/>
            <a:ext cx="12618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</p:spPr>
      </p:sp>
      <p:sp>
        <p:nvSpPr>
          <p:cNvPr id="14" name="Text 12"/>
          <p:cNvSpPr/>
          <p:nvPr/>
        </p:nvSpPr>
        <p:spPr>
          <a:xfrm>
            <a:off x="4795375" y="2377440"/>
            <a:ext cx="117043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Train-Test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(K-Fold)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11527" y="2377440"/>
            <a:ext cx="138466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49993" y="2377440"/>
            <a:ext cx="12618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</p:spPr>
      </p:sp>
      <p:sp>
        <p:nvSpPr>
          <p:cNvPr id="17" name="Text 15"/>
          <p:cNvSpPr/>
          <p:nvPr/>
        </p:nvSpPr>
        <p:spPr>
          <a:xfrm>
            <a:off x="6195713" y="2377440"/>
            <a:ext cx="117043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Training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(LR, RF, XGB, CB)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11865" y="2377440"/>
            <a:ext cx="138466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50331" y="2377440"/>
            <a:ext cx="12618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</p:spPr>
      </p:sp>
      <p:sp>
        <p:nvSpPr>
          <p:cNvPr id="20" name="Text 18"/>
          <p:cNvSpPr/>
          <p:nvPr/>
        </p:nvSpPr>
        <p:spPr>
          <a:xfrm>
            <a:off x="7596051" y="2377440"/>
            <a:ext cx="117043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Stacking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12203" y="2377440"/>
            <a:ext cx="138466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50670" y="2377440"/>
            <a:ext cx="1261872" cy="1051560"/>
          </a:xfrm>
          <a:prstGeom prst="roundRect">
            <a:avLst>
              <a:gd name="adj" fmla="val 6957"/>
            </a:avLst>
          </a:prstGeom>
          <a:solidFill>
            <a:srgbClr val="C89B3C"/>
          </a:solidFill>
        </p:spPr>
      </p:sp>
      <p:sp>
        <p:nvSpPr>
          <p:cNvPr id="23" name="Text 21"/>
          <p:cNvSpPr/>
          <p:nvPr/>
        </p:nvSpPr>
        <p:spPr>
          <a:xfrm>
            <a:off x="8996390" y="2377440"/>
            <a:ext cx="117043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41B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41B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212542" y="2377440"/>
            <a:ext cx="138466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351008" y="2377440"/>
            <a:ext cx="12618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</p:spPr>
      </p:sp>
      <p:sp>
        <p:nvSpPr>
          <p:cNvPr id="26" name="Text 24"/>
          <p:cNvSpPr/>
          <p:nvPr/>
        </p:nvSpPr>
        <p:spPr>
          <a:xfrm>
            <a:off x="10417048" y="2377440"/>
            <a:ext cx="117043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Comparative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977640"/>
            <a:ext cx="110642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Preprocessed data flows through comparative model training, followed by ensemble stacking of the strongest performers, and finally SHAP-based explanation of the price drivers behind every prediction.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Review I  •  House Price Prediction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Plan &amp;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548640" y="1783080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94560" y="1783080"/>
            <a:ext cx="9418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78308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Foundational groundwork and literature review (planned activity to be detailed as the project progresses).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548640" y="2670048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2670048"/>
            <a:ext cx="9418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2670048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 and exploratory data analysis; prepare relevant features for model development.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548640" y="3557016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94560" y="3557016"/>
            <a:ext cx="9418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3557016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Comparative implementation of Linear Regression, Random Forest, XGBoost and CatBoost (planned activity to be detailed as the project progresses).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</p:spPr>
      </p:sp>
      <p:sp>
        <p:nvSpPr>
          <p:cNvPr id="17" name="Text 15"/>
          <p:cNvSpPr/>
          <p:nvPr/>
        </p:nvSpPr>
        <p:spPr>
          <a:xfrm>
            <a:off x="548640" y="4443984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94560" y="4443984"/>
            <a:ext cx="9418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4443984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and evaluate the Stacking Regressor; compare ensemble performance with individual models; perform SHAP-based explainability and feature analysis.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30952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548640" y="5330952"/>
            <a:ext cx="1554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94560" y="5330952"/>
            <a:ext cx="9418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5330952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and final evaluation; analyze results; prepare documentation, report and presentation.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Review I  •  House Price Prediction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Details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28320" y="1965960"/>
            <a:ext cx="35661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2331720"/>
            <a:ext cx="1005840" cy="10058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1828800" y="233172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CH. Shalini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No. 2420030284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97280" y="4361688"/>
            <a:ext cx="2468880" cy="0"/>
          </a:xfrm>
          <a:prstGeom prst="line">
            <a:avLst/>
          </a:prstGeom>
          <a:noFill/>
          <a:ln w="12700">
            <a:solidFill>
              <a:srgbClr val="E3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5262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Survey, Data Preprocessing &amp; Feature Engineering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35661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2331720"/>
            <a:ext cx="1005840" cy="10058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5577840" y="233172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80560" y="352044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M. J. U. Harika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480560" y="39319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No. 2420030453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4361688"/>
            <a:ext cx="2468880" cy="0"/>
          </a:xfrm>
          <a:prstGeom prst="line">
            <a:avLst/>
          </a:prstGeom>
          <a:noFill/>
          <a:ln w="12700">
            <a:solidFill>
              <a:srgbClr val="E3E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5262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Model Development, Model Comparison &amp; Ensemble Learning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1965960"/>
            <a:ext cx="35661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2331720"/>
            <a:ext cx="1005840" cy="10058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0" name="Text 18"/>
          <p:cNvSpPr/>
          <p:nvPr/>
        </p:nvSpPr>
        <p:spPr>
          <a:xfrm>
            <a:off x="9326880" y="233172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229600" y="352044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K. Aneesha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229600" y="39319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No. 2420030589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95360" y="4361688"/>
            <a:ext cx="2468880" cy="0"/>
          </a:xfrm>
          <a:prstGeom prst="line">
            <a:avLst/>
          </a:prstGeom>
          <a:noFill/>
          <a:ln w="12700">
            <a:solidFill>
              <a:srgbClr val="E3E5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45262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Analysis, Result Analysis, Documentation &amp; Presentation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Review I  •  House Price Prediction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371600"/>
            <a:ext cx="3291840" cy="32918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10881360" y="-548640"/>
            <a:ext cx="1828800" cy="1828800"/>
          </a:xfrm>
          <a:prstGeom prst="ellipse">
            <a:avLst/>
          </a:prstGeom>
          <a:solidFill>
            <a:srgbClr val="C89B3C"/>
          </a:solidFill>
        </p:spPr>
      </p:sp>
      <p:sp>
        <p:nvSpPr>
          <p:cNvPr id="4" name="Shape 2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0" y="283464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1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Real Estate Analytics  •  Project Review – I</a:t>
            </a:r>
            <a:endParaRPr lang="en-US" sz="1300" dirty="0"/>
          </a:p>
        </p:txBody>
      </p:sp>
      <p:sp>
        <p:nvSpPr>
          <p:cNvPr id="7" name="Text Box 6"/>
          <p:cNvSpPr txBox="1"/>
          <p:nvPr/>
        </p:nvSpPr>
        <p:spPr>
          <a:xfrm>
            <a:off x="7280275" y="40316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1084</Words>
  <Application>Microsoft Office PowerPoint</Application>
  <PresentationFormat>Widescreen</PresentationFormat>
  <Paragraphs>172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Shalini Ch</cp:lastModifiedBy>
  <cp:revision>5</cp:revision>
  <dcterms:created xsi:type="dcterms:W3CDTF">2026-08-08T05:39:00Z</dcterms:created>
  <dcterms:modified xsi:type="dcterms:W3CDTF">2026-08-12T03:52:33Z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4B61D828BFFB44DA9265D8699B956724_12</vt:lpwstr>
  </property>
</Properties>
</file>