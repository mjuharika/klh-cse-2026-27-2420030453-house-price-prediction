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8" r:id="rId5"/>
    <p:sldId id="259" r:id="rId6"/>
    <p:sldId id="264" r:id="rId7"/>
    <p:sldId id="263" r:id="rId8"/>
    <p:sldId id="265" r:id="rId9"/>
    <p:sldId id="266" r:id="rId10"/>
    <p:sldId id="268" r:id="rId11"/>
    <p:sldId id="273" r:id="rId12"/>
    <p:sldId id="274" r:id="rId13"/>
    <p:sldId id="276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B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371600"/>
            <a:ext cx="3291840" cy="329184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3" name="Shape 1"/>
          <p:cNvSpPr/>
          <p:nvPr/>
        </p:nvSpPr>
        <p:spPr>
          <a:xfrm>
            <a:off x="10881360" y="-548640"/>
            <a:ext cx="1828800" cy="1828800"/>
          </a:xfrm>
          <a:prstGeom prst="ellipse">
            <a:avLst/>
          </a:prstGeom>
          <a:solidFill>
            <a:srgbClr val="C89B3C"/>
          </a:solidFill>
        </p:spPr>
      </p:sp>
      <p:sp>
        <p:nvSpPr>
          <p:cNvPr id="4" name="Shape 2"/>
          <p:cNvSpPr/>
          <p:nvPr/>
        </p:nvSpPr>
        <p:spPr>
          <a:xfrm>
            <a:off x="-1280160" y="5120640"/>
            <a:ext cx="2926080" cy="292608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5" name="Text 3"/>
          <p:cNvSpPr/>
          <p:nvPr/>
        </p:nvSpPr>
        <p:spPr>
          <a:xfrm>
            <a:off x="731520" y="141732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REAL ESTATE ANALYTICS   |   MACHINE LEARNING   |   DATA ANALYTICS &amp; VISUALIZATION   |   EXPLAINABLE AI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10515600" cy="1554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Explainable Real Estate Analytics: A Comparative Analysis of Machine Learning Frameworks for House Price Prediction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31520" y="361188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AA1C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PROJECT REVIEW – 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4160520"/>
            <a:ext cx="5577840" cy="1600200"/>
          </a:xfrm>
          <a:prstGeom prst="rect">
            <a:avLst/>
          </a:prstGeom>
          <a:solidFill>
            <a:srgbClr val="1E2761"/>
          </a:solidFill>
        </p:spPr>
      </p:sp>
      <p:sp>
        <p:nvSpPr>
          <p:cNvPr id="9" name="Text 7"/>
          <p:cNvSpPr/>
          <p:nvPr/>
        </p:nvSpPr>
        <p:spPr>
          <a:xfrm>
            <a:off x="960120" y="4315968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BATCH – 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60120" y="461772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CH. Shalini  —  2420030284</a:t>
            </a:r>
            <a:endParaRPr lang="en-US" sz="135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M. J. U. Harika  —  2420030453</a:t>
            </a:r>
            <a:endParaRPr lang="en-US" sz="135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K. Aneesha  —  2420030589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720840" y="4315968"/>
            <a:ext cx="4754880" cy="1554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250" b="1" dirty="0">
                <a:solidFill>
                  <a:srgbClr val="9AA1C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Faculty Guide:  </a:t>
            </a:r>
            <a:r>
              <a:rPr lang="en-US" sz="12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Dr. K Swapnika
</a:t>
            </a:r>
            <a:r>
              <a:rPr lang="en-US" sz="1250" b="1" dirty="0">
                <a:solidFill>
                  <a:srgbClr val="9AA1C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Department:  </a:t>
            </a:r>
            <a:r>
              <a:rPr lang="en-US" sz="12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Computer Science and Engineering
</a:t>
            </a:r>
            <a:r>
              <a:rPr lang="en-US" sz="1250" b="1" dirty="0">
                <a:solidFill>
                  <a:srgbClr val="9AA1C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University:  </a:t>
            </a:r>
            <a:r>
              <a:rPr lang="en-US" sz="12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KLH University
</a:t>
            </a:r>
            <a:r>
              <a:rPr lang="en-US" sz="1250" b="1" dirty="0">
                <a:solidFill>
                  <a:srgbClr val="9AA1C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Academic Year:  </a:t>
            </a:r>
            <a:r>
              <a:rPr lang="en-US" sz="125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2026 – 2027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11430000" y="640080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AA1C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FOUNDATION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Refined Title &amp; Project Domain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371600"/>
          </a:xfrm>
          <a:prstGeom prst="roundRect">
            <a:avLst>
              <a:gd name="adj" fmla="val 4000"/>
            </a:avLst>
          </a:prstGeom>
          <a:solidFill>
            <a:srgbClr val="1E2761"/>
          </a:solidFill>
        </p:spPr>
      </p:sp>
      <p:sp>
        <p:nvSpPr>
          <p:cNvPr id="5" name="Text 3"/>
          <p:cNvSpPr/>
          <p:nvPr/>
        </p:nvSpPr>
        <p:spPr>
          <a:xfrm>
            <a:off x="822960" y="18745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REFINED TITLE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10515600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Explainable Real Estate Analytics: A Comparative Analysis of Machine Learning Frameworks for House Price Prediction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48640" y="33375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Why the title was refined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6949440" cy="23774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35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 title is refined from the initial comparative-analysis topic based on recent research in machine learning-based property valuation. The proposed work retains comparative evaluation and extends it by integrating feature engineering, ensemble learning and Explainable Artificial Intelligence (XAI).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818120" y="3337560"/>
            <a:ext cx="379476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92440" y="3520440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PROJECT DOMAIN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092440" y="379476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Analytics &amp; Visualization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092440" y="4389120"/>
            <a:ext cx="3291840" cy="1554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Department: </a:t>
            </a:r>
            <a:r>
              <a:rPr lang="en-US" sz="12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Computer Science and Engineering
</a:t>
            </a:r>
            <a:r>
              <a:rPr lang="en-US" sz="12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University: </a:t>
            </a:r>
            <a:r>
              <a:rPr lang="en-US" sz="12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KLH University
</a:t>
            </a:r>
            <a:r>
              <a:rPr lang="en-US" sz="12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Faculty Guide: </a:t>
            </a:r>
            <a:r>
              <a:rPr lang="en-US" sz="12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Dr. K Swapnika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Project Review I  •  House Price Prediction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FOUNDATION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7733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78485" y="1662430"/>
            <a:ext cx="6279515" cy="164782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ts val="2300"/>
              </a:lnSpc>
              <a:buNone/>
            </a:pPr>
            <a:r>
              <a:rPr lang="en-US" altLang="en-US" sz="16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House prices are influenced by multiple factors, making accurate prediction a complex task. This project presents a comparative machine learning framework using Decision Tree, Random Forest, XGBoost, and CatBoost, with comprehensive EDA, preprocessing, and feature engineering. Model performance is evaluated using MAE, MSE, RMSE, R², and MAPE, while SHAP and LIME provide interpretable insights into the key factors influencing house price predictions.</a:t>
            </a:r>
            <a:endParaRPr lang="en-US" altLang="en-US" sz="1600" dirty="0">
              <a:solidFill>
                <a:srgbClr val="33333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4224655"/>
            <a:ext cx="6858000" cy="1417320"/>
          </a:xfrm>
          <a:prstGeom prst="roundRect">
            <a:avLst>
              <a:gd name="adj" fmla="val 3871"/>
            </a:avLst>
          </a:prstGeom>
          <a:solidFill>
            <a:srgbClr val="1E2761"/>
          </a:solidFill>
        </p:spPr>
      </p:sp>
      <p:sp>
        <p:nvSpPr>
          <p:cNvPr id="7" name="Text 5"/>
          <p:cNvSpPr/>
          <p:nvPr/>
        </p:nvSpPr>
        <p:spPr>
          <a:xfrm>
            <a:off x="777240" y="4462145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PROJECT AIM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77240" y="4645025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 develop an explainable ensemble learning framework that improves house price prediction while identifying the major factors influencing the predicted price.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0" y="1470025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INFLUENCING FACTORS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772400" y="1790065"/>
            <a:ext cx="38404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936992" y="1936369"/>
            <a:ext cx="274320" cy="274320"/>
          </a:xfrm>
          <a:prstGeom prst="ellipse">
            <a:avLst/>
          </a:prstGeom>
          <a:solidFill>
            <a:srgbClr val="C89B3C"/>
          </a:solidFill>
        </p:spPr>
      </p:sp>
      <p:sp>
        <p:nvSpPr>
          <p:cNvPr id="12" name="Text 10"/>
          <p:cNvSpPr/>
          <p:nvPr/>
        </p:nvSpPr>
        <p:spPr>
          <a:xfrm>
            <a:off x="8366760" y="1790065"/>
            <a:ext cx="310896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Location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2448433"/>
            <a:ext cx="38404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36992" y="2594737"/>
            <a:ext cx="274320" cy="274320"/>
          </a:xfrm>
          <a:prstGeom prst="ellipse">
            <a:avLst/>
          </a:prstGeom>
          <a:solidFill>
            <a:srgbClr val="C89B3C"/>
          </a:solidFill>
        </p:spPr>
      </p:sp>
      <p:sp>
        <p:nvSpPr>
          <p:cNvPr id="15" name="Text 13"/>
          <p:cNvSpPr/>
          <p:nvPr/>
        </p:nvSpPr>
        <p:spPr>
          <a:xfrm>
            <a:off x="8366760" y="2448433"/>
            <a:ext cx="310896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Property Area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72400" y="3106801"/>
            <a:ext cx="38404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36992" y="3253105"/>
            <a:ext cx="274320" cy="274320"/>
          </a:xfrm>
          <a:prstGeom prst="ellipse">
            <a:avLst/>
          </a:prstGeom>
          <a:solidFill>
            <a:srgbClr val="C89B3C"/>
          </a:solidFill>
        </p:spPr>
      </p:sp>
      <p:sp>
        <p:nvSpPr>
          <p:cNvPr id="18" name="Text 16"/>
          <p:cNvSpPr/>
          <p:nvPr/>
        </p:nvSpPr>
        <p:spPr>
          <a:xfrm>
            <a:off x="8366760" y="3106801"/>
            <a:ext cx="310896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Number of Rooms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772400" y="3765169"/>
            <a:ext cx="38404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6992" y="3911473"/>
            <a:ext cx="274320" cy="274320"/>
          </a:xfrm>
          <a:prstGeom prst="ellipse">
            <a:avLst/>
          </a:prstGeom>
          <a:solidFill>
            <a:srgbClr val="C89B3C"/>
          </a:solidFill>
        </p:spPr>
      </p:sp>
      <p:sp>
        <p:nvSpPr>
          <p:cNvPr id="21" name="Text 19"/>
          <p:cNvSpPr/>
          <p:nvPr/>
        </p:nvSpPr>
        <p:spPr>
          <a:xfrm>
            <a:off x="8366760" y="3765169"/>
            <a:ext cx="310896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Property Age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772400" y="4423537"/>
            <a:ext cx="38404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936992" y="4569841"/>
            <a:ext cx="274320" cy="274320"/>
          </a:xfrm>
          <a:prstGeom prst="ellipse">
            <a:avLst/>
          </a:prstGeom>
          <a:solidFill>
            <a:srgbClr val="C89B3C"/>
          </a:solidFill>
        </p:spPr>
      </p:sp>
      <p:sp>
        <p:nvSpPr>
          <p:cNvPr id="24" name="Text 22"/>
          <p:cNvSpPr/>
          <p:nvPr/>
        </p:nvSpPr>
        <p:spPr>
          <a:xfrm>
            <a:off x="8366760" y="4423537"/>
            <a:ext cx="310896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Quality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5081905"/>
            <a:ext cx="38404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36992" y="5228209"/>
            <a:ext cx="274320" cy="274320"/>
          </a:xfrm>
          <a:prstGeom prst="ellipse">
            <a:avLst/>
          </a:prstGeom>
          <a:solidFill>
            <a:srgbClr val="C89B3C"/>
          </a:solidFill>
        </p:spPr>
      </p:sp>
      <p:sp>
        <p:nvSpPr>
          <p:cNvPr id="27" name="Text 25"/>
          <p:cNvSpPr/>
          <p:nvPr/>
        </p:nvSpPr>
        <p:spPr>
          <a:xfrm>
            <a:off x="8366760" y="5081905"/>
            <a:ext cx="3108960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Amenities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Project Review I  •  House Price Prediction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FOUNDATION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Objectives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4406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0116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1E2761"/>
          </a:solidFill>
        </p:spPr>
      </p:sp>
      <p:sp>
        <p:nvSpPr>
          <p:cNvPr id="6" name="Text 4"/>
          <p:cNvSpPr/>
          <p:nvPr/>
        </p:nvSpPr>
        <p:spPr>
          <a:xfrm>
            <a:off x="777240" y="201168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7320" y="2011680"/>
            <a:ext cx="4343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Preparation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77240" y="2651760"/>
            <a:ext cx="498348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 preprocess and prepare house-price data using missing-value treatment, categorical encoding, outlier handling and feature engineering techniques.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1783080"/>
            <a:ext cx="54406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201168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1E2761"/>
          </a:solidFill>
        </p:spPr>
      </p:sp>
      <p:sp>
        <p:nvSpPr>
          <p:cNvPr id="11" name="Text 9"/>
          <p:cNvSpPr/>
          <p:nvPr/>
        </p:nvSpPr>
        <p:spPr>
          <a:xfrm>
            <a:off x="6400800" y="201168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040880" y="2011680"/>
            <a:ext cx="4343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Model Implementation &amp; Comparison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00800" y="2651760"/>
            <a:ext cx="498348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 implement and compare Linear Regression, Random Forest, XGBoost and CatBoost using K-Fold Cross-Validation and evaluation metrics such as MAE, RMSE and R².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54406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416052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1E2761"/>
          </a:solidFill>
        </p:spPr>
      </p:sp>
      <p:sp>
        <p:nvSpPr>
          <p:cNvPr id="16" name="Text 14"/>
          <p:cNvSpPr/>
          <p:nvPr/>
        </p:nvSpPr>
        <p:spPr>
          <a:xfrm>
            <a:off x="777240" y="416052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17320" y="4160520"/>
            <a:ext cx="4343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Ensemble Development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777240" y="4800600"/>
            <a:ext cx="498348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 develop a Stacking Regressor by combining the best-performing machine learning models to improve house-price prediction performance.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3931920"/>
            <a:ext cx="54406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416052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1E2761"/>
          </a:solidFill>
        </p:spPr>
      </p:sp>
      <p:sp>
        <p:nvSpPr>
          <p:cNvPr id="21" name="Text 19"/>
          <p:cNvSpPr/>
          <p:nvPr/>
        </p:nvSpPr>
        <p:spPr>
          <a:xfrm>
            <a:off x="6400800" y="4160520"/>
            <a:ext cx="502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040880" y="4160520"/>
            <a:ext cx="4343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Explainability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00800" y="4800600"/>
            <a:ext cx="498348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 apply SHAP-based Explainable Artificial Intelligence to identify and interpret the most influential features contributing to house-price predictions.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Project Review I  •  House Price Prediction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FOUNDATION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Research Gaps Identified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49808" y="1970532"/>
            <a:ext cx="402336" cy="402336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6" name="Text 4"/>
          <p:cNvSpPr/>
          <p:nvPr/>
        </p:nvSpPr>
        <p:spPr>
          <a:xfrm>
            <a:off x="749808" y="1970532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25880" y="1783080"/>
            <a:ext cx="1010412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Many studies compare individual machine learning models, but there is scope for integrating complementary high-performing models into a single ensemble framework.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5176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2839212"/>
            <a:ext cx="402336" cy="402336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10" name="Text 8"/>
          <p:cNvSpPr/>
          <p:nvPr/>
        </p:nvSpPr>
        <p:spPr>
          <a:xfrm>
            <a:off x="749808" y="2839212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325880" y="2651760"/>
            <a:ext cx="1010412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Although recent work combines ensemble learning and Explainable AI, several approaches are region-specific, spatially intensive or designed for specialized valuation environments.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52044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9808" y="3707892"/>
            <a:ext cx="402336" cy="402336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14" name="Text 12"/>
          <p:cNvSpPr/>
          <p:nvPr/>
        </p:nvSpPr>
        <p:spPr>
          <a:xfrm>
            <a:off x="749808" y="3707892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25880" y="3520440"/>
            <a:ext cx="1010412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Advanced AutoML, multimodal and deep-learning approaches can improve prediction but increase implementation and computational complexity.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38912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49808" y="4576572"/>
            <a:ext cx="402336" cy="402336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18" name="Text 16"/>
          <p:cNvSpPr/>
          <p:nvPr/>
        </p:nvSpPr>
        <p:spPr>
          <a:xfrm>
            <a:off x="749808" y="4576572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25880" y="4389120"/>
            <a:ext cx="1010412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Prediction accuracy is often emphasized more than the interpretability of individual predictions.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25780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" y="5490972"/>
            <a:ext cx="402336" cy="402336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22" name="Text 20"/>
          <p:cNvSpPr/>
          <p:nvPr/>
        </p:nvSpPr>
        <p:spPr>
          <a:xfrm>
            <a:off x="749808" y="5490972"/>
            <a:ext cx="402336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25880" y="5257800"/>
            <a:ext cx="10104120" cy="8686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 practical framework combining feature engineering, model comparison, stacking and SHAP-based explanation remains a suitable research direction for structured house-price data.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Project Review I  •  House Price Prediction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FOUNDATION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Novelty / Innovation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005840"/>
          </a:xfrm>
          <a:prstGeom prst="roundRect">
            <a:avLst>
              <a:gd name="adj" fmla="val 5455"/>
            </a:avLst>
          </a:prstGeom>
          <a:solidFill>
            <a:srgbClr val="1E2761"/>
          </a:solidFill>
        </p:spPr>
      </p:sp>
      <p:sp>
        <p:nvSpPr>
          <p:cNvPr id="5" name="Text 3"/>
          <p:cNvSpPr/>
          <p:nvPr/>
        </p:nvSpPr>
        <p:spPr>
          <a:xfrm>
            <a:off x="822960" y="1920240"/>
            <a:ext cx="1051560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 novelty is not the individual use of ensemble learning or SHAP, since these techniques already exist in recent literature. The proposed innovation is their integration into a single practical house-price prediction pipeline.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3017520"/>
            <a:ext cx="5440680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9808" y="3218688"/>
            <a:ext cx="365760" cy="365760"/>
          </a:xfrm>
          <a:prstGeom prst="ellipse">
            <a:avLst/>
          </a:prstGeom>
          <a:solidFill>
            <a:srgbClr val="C89B3C"/>
          </a:solidFill>
        </p:spPr>
      </p:sp>
      <p:sp>
        <p:nvSpPr>
          <p:cNvPr id="8" name="Text 6"/>
          <p:cNvSpPr/>
          <p:nvPr/>
        </p:nvSpPr>
        <p:spPr>
          <a:xfrm>
            <a:off x="749808" y="321868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1B4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3703320"/>
            <a:ext cx="5029200" cy="685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Systematic feature engineering and preprocessing before model comparison.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172200" y="3017520"/>
            <a:ext cx="5440680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73368" y="3218688"/>
            <a:ext cx="365760" cy="365760"/>
          </a:xfrm>
          <a:prstGeom prst="ellipse">
            <a:avLst/>
          </a:prstGeom>
          <a:solidFill>
            <a:srgbClr val="C89B3C"/>
          </a:solidFill>
        </p:spPr>
      </p:sp>
      <p:sp>
        <p:nvSpPr>
          <p:cNvPr id="12" name="Text 10"/>
          <p:cNvSpPr/>
          <p:nvPr/>
        </p:nvSpPr>
        <p:spPr>
          <a:xfrm>
            <a:off x="6373368" y="321868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1B4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373368" y="3703320"/>
            <a:ext cx="5029200" cy="685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Comparative evaluation of multiple regression models followed by selection of complementary high-performing models.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709160"/>
            <a:ext cx="5440680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49808" y="4910328"/>
            <a:ext cx="365760" cy="365760"/>
          </a:xfrm>
          <a:prstGeom prst="ellipse">
            <a:avLst/>
          </a:prstGeom>
          <a:solidFill>
            <a:srgbClr val="C89B3C"/>
          </a:solidFill>
        </p:spPr>
      </p:sp>
      <p:sp>
        <p:nvSpPr>
          <p:cNvPr id="16" name="Text 14"/>
          <p:cNvSpPr/>
          <p:nvPr/>
        </p:nvSpPr>
        <p:spPr>
          <a:xfrm>
            <a:off x="749808" y="491032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1B4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49808" y="5394960"/>
            <a:ext cx="5029200" cy="685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Use of a Stacking Regressor to combine selected models instead of relying only on one individual predictor.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172200" y="4709160"/>
            <a:ext cx="5440680" cy="150876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73368" y="4910328"/>
            <a:ext cx="365760" cy="365760"/>
          </a:xfrm>
          <a:prstGeom prst="ellipse">
            <a:avLst/>
          </a:prstGeom>
          <a:solidFill>
            <a:srgbClr val="C89B3C"/>
          </a:solidFill>
        </p:spPr>
      </p:sp>
      <p:sp>
        <p:nvSpPr>
          <p:cNvPr id="20" name="Text 18"/>
          <p:cNvSpPr/>
          <p:nvPr/>
        </p:nvSpPr>
        <p:spPr>
          <a:xfrm>
            <a:off x="6373368" y="491032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1B4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373368" y="5394960"/>
            <a:ext cx="5029200" cy="685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Application of SHAP to the final model to provide understandable feature-level explanations for house-price predictions.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Project Review I  •  House Price Prediction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FEASIBILITY STUDY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Feasibility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1485" y="1230630"/>
            <a:ext cx="11161395" cy="1586865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  <p:txBody>
          <a:bodyPr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53415" y="1273683"/>
            <a:ext cx="365760" cy="36576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6" name="Text 4"/>
          <p:cNvSpPr/>
          <p:nvPr/>
        </p:nvSpPr>
        <p:spPr>
          <a:xfrm>
            <a:off x="653415" y="1273683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47140" y="1560830"/>
            <a:ext cx="1010412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en-US" sz="14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Technical Feasibility:</a:t>
            </a:r>
            <a:endParaRPr lang="en-US" altLang="en-US" sz="1400" dirty="0">
              <a:solidFill>
                <a:srgbClr val="33333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>
              <a:buNone/>
            </a:pPr>
            <a:endParaRPr lang="en-US" altLang="en-US" sz="1400" dirty="0">
              <a:solidFill>
                <a:srgbClr val="33333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4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Implemented using Python and standard machine learning tools.</a:t>
            </a:r>
            <a:endParaRPr lang="en-US" altLang="en-US" sz="1400" dirty="0">
              <a:solidFill>
                <a:srgbClr val="33333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4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Uses open-source libraries such as Scikit-learn, XGBoost, CatBoost, SHAP, and LIME.</a:t>
            </a:r>
            <a:endParaRPr lang="en-US" altLang="en-US" sz="1400" dirty="0">
              <a:solidFill>
                <a:srgbClr val="33333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4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Public benchmark housing datasets are available for experimentation.</a:t>
            </a:r>
            <a:endParaRPr lang="en-US" altLang="en-US" sz="1400" dirty="0">
              <a:solidFill>
                <a:srgbClr val="33333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4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Can be developed and executed on a standard computer.</a:t>
            </a:r>
            <a:endParaRPr lang="en-US" altLang="en-US" sz="1400" dirty="0">
              <a:solidFill>
                <a:srgbClr val="33333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29" name="Shape 2"/>
          <p:cNvSpPr/>
          <p:nvPr/>
        </p:nvSpPr>
        <p:spPr>
          <a:xfrm>
            <a:off x="451485" y="3068955"/>
            <a:ext cx="11161395" cy="164465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  <p:txBody>
          <a:bodyPr/>
          <a:p>
            <a:endParaRPr lang="en-US"/>
          </a:p>
        </p:txBody>
      </p:sp>
      <p:sp>
        <p:nvSpPr>
          <p:cNvPr id="30" name="Shape 3"/>
          <p:cNvSpPr/>
          <p:nvPr/>
        </p:nvSpPr>
        <p:spPr>
          <a:xfrm>
            <a:off x="653415" y="3239643"/>
            <a:ext cx="365760" cy="36576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31" name="Text 4"/>
          <p:cNvSpPr/>
          <p:nvPr/>
        </p:nvSpPr>
        <p:spPr>
          <a:xfrm>
            <a:off x="653415" y="3239643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500" dirty="0"/>
          </a:p>
        </p:txBody>
      </p:sp>
      <p:sp>
        <p:nvSpPr>
          <p:cNvPr id="32" name="Text 5"/>
          <p:cNvSpPr/>
          <p:nvPr/>
        </p:nvSpPr>
        <p:spPr>
          <a:xfrm>
            <a:off x="1224280" y="3479165"/>
            <a:ext cx="1010412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en-US" sz="14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Economic Feasibility:</a:t>
            </a:r>
            <a:endParaRPr lang="en-US" altLang="en-US" sz="1400" dirty="0">
              <a:solidFill>
                <a:srgbClr val="33333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>
              <a:buNone/>
            </a:pPr>
            <a:endParaRPr lang="en-US" altLang="en-US" sz="1400" dirty="0">
              <a:solidFill>
                <a:srgbClr val="33333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4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 specialized paid software is required.</a:t>
            </a:r>
            <a:endParaRPr lang="en-US" altLang="en-US" sz="1400" dirty="0">
              <a:solidFill>
                <a:srgbClr val="33333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4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Uses freely available datasets, tools, and open-source libraries.</a:t>
            </a:r>
            <a:endParaRPr lang="en-US" altLang="en-US" sz="1400" dirty="0">
              <a:solidFill>
                <a:srgbClr val="33333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4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Requires minimal development and implementation costs.</a:t>
            </a:r>
            <a:endParaRPr lang="en-US" altLang="en-US" sz="1400" dirty="0">
              <a:solidFill>
                <a:srgbClr val="33333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33" name="Shape 2"/>
          <p:cNvSpPr/>
          <p:nvPr/>
        </p:nvSpPr>
        <p:spPr>
          <a:xfrm>
            <a:off x="451485" y="4917440"/>
            <a:ext cx="11161395" cy="164465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  <p:txBody>
          <a:bodyPr/>
          <a:p>
            <a:endParaRPr lang="en-US"/>
          </a:p>
        </p:txBody>
      </p:sp>
      <p:sp>
        <p:nvSpPr>
          <p:cNvPr id="34" name="Shape 3"/>
          <p:cNvSpPr/>
          <p:nvPr/>
        </p:nvSpPr>
        <p:spPr>
          <a:xfrm>
            <a:off x="653415" y="5088128"/>
            <a:ext cx="365760" cy="36576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35" name="Text 4"/>
          <p:cNvSpPr/>
          <p:nvPr/>
        </p:nvSpPr>
        <p:spPr>
          <a:xfrm>
            <a:off x="653415" y="508812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</a:t>
            </a:r>
            <a:endParaRPr lang="en-US" sz="1500" dirty="0"/>
          </a:p>
        </p:txBody>
      </p:sp>
      <p:sp>
        <p:nvSpPr>
          <p:cNvPr id="36" name="Text 5"/>
          <p:cNvSpPr/>
          <p:nvPr/>
        </p:nvSpPr>
        <p:spPr>
          <a:xfrm>
            <a:off x="1247140" y="5375275"/>
            <a:ext cx="1010412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en-US" sz="14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Operational Feasibility:</a:t>
            </a:r>
            <a:endParaRPr lang="en-US" altLang="en-US" sz="1400" dirty="0">
              <a:solidFill>
                <a:srgbClr val="33333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0" indent="0">
              <a:buNone/>
            </a:pPr>
            <a:endParaRPr lang="en-US" altLang="en-US" sz="1400" dirty="0">
              <a:solidFill>
                <a:srgbClr val="33333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4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Suitable for an academic machine learning and data analytics project.</a:t>
            </a:r>
            <a:endParaRPr lang="en-US" altLang="en-US" sz="1400" dirty="0">
              <a:solidFill>
                <a:srgbClr val="33333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4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The workflow is structured, simple, and manageable.</a:t>
            </a:r>
            <a:endParaRPr lang="en-US" altLang="en-US" sz="1400" dirty="0">
              <a:solidFill>
                <a:srgbClr val="33333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4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Can be completed within the planned project duration.</a:t>
            </a:r>
            <a:endParaRPr lang="en-US" altLang="en-US" sz="1400" dirty="0">
              <a:solidFill>
                <a:srgbClr val="33333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en-US" sz="14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Requires only standard computing resources.</a:t>
            </a:r>
            <a:endParaRPr lang="en-US" altLang="en-US" sz="1400" dirty="0">
              <a:solidFill>
                <a:srgbClr val="333333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B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METHODOLOGY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Proposed Workflow — Data Flow Pipeline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1261872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</p:spPr>
      </p:sp>
      <p:sp>
        <p:nvSpPr>
          <p:cNvPr id="5" name="Text 3"/>
          <p:cNvSpPr/>
          <p:nvPr/>
        </p:nvSpPr>
        <p:spPr>
          <a:xfrm>
            <a:off x="594360" y="2377440"/>
            <a:ext cx="1170432" cy="1051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</a:t>
            </a:r>
            <a:endParaRPr lang="en-US" sz="100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Collection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810512" y="2377440"/>
            <a:ext cx="138466" cy="1051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1C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948978" y="2377440"/>
            <a:ext cx="1261872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</p:spPr>
      </p:sp>
      <p:sp>
        <p:nvSpPr>
          <p:cNvPr id="8" name="Text 6"/>
          <p:cNvSpPr/>
          <p:nvPr/>
        </p:nvSpPr>
        <p:spPr>
          <a:xfrm>
            <a:off x="1994698" y="2377440"/>
            <a:ext cx="1170432" cy="1051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Preprocessing</a:t>
            </a:r>
            <a:endParaRPr lang="en-US" sz="100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(Missing/Outlier/Encoding)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210850" y="2377440"/>
            <a:ext cx="138466" cy="1051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1C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349317" y="2377440"/>
            <a:ext cx="1261872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</p:spPr>
      </p:sp>
      <p:sp>
        <p:nvSpPr>
          <p:cNvPr id="11" name="Text 9"/>
          <p:cNvSpPr/>
          <p:nvPr/>
        </p:nvSpPr>
        <p:spPr>
          <a:xfrm>
            <a:off x="3395037" y="2377440"/>
            <a:ext cx="1170432" cy="1051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Feature</a:t>
            </a:r>
            <a:endParaRPr lang="en-US" sz="100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Engineering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11189" y="2377440"/>
            <a:ext cx="138466" cy="1051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1C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749655" y="2377440"/>
            <a:ext cx="1261872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</p:spPr>
      </p:sp>
      <p:sp>
        <p:nvSpPr>
          <p:cNvPr id="14" name="Text 12"/>
          <p:cNvSpPr/>
          <p:nvPr/>
        </p:nvSpPr>
        <p:spPr>
          <a:xfrm>
            <a:off x="4795375" y="2377440"/>
            <a:ext cx="1170432" cy="1051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Train-Test</a:t>
            </a:r>
            <a:endParaRPr lang="en-US" sz="100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Split (K-Fold)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011527" y="2377440"/>
            <a:ext cx="138466" cy="1051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1C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149993" y="2377440"/>
            <a:ext cx="1261872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</p:spPr>
      </p:sp>
      <p:sp>
        <p:nvSpPr>
          <p:cNvPr id="17" name="Text 15"/>
          <p:cNvSpPr/>
          <p:nvPr/>
        </p:nvSpPr>
        <p:spPr>
          <a:xfrm>
            <a:off x="6195713" y="2377440"/>
            <a:ext cx="1170432" cy="1051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Model Training</a:t>
            </a:r>
            <a:endParaRPr lang="en-US" sz="100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(LR, RF, XGB, CB)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411865" y="2377440"/>
            <a:ext cx="138466" cy="1051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1C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550331" y="2377440"/>
            <a:ext cx="1261872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</p:spPr>
      </p:sp>
      <p:sp>
        <p:nvSpPr>
          <p:cNvPr id="20" name="Text 18"/>
          <p:cNvSpPr/>
          <p:nvPr/>
        </p:nvSpPr>
        <p:spPr>
          <a:xfrm>
            <a:off x="7596051" y="2377440"/>
            <a:ext cx="1170432" cy="1051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Stacking</a:t>
            </a:r>
            <a:endParaRPr lang="en-US" sz="100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Regressor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812203" y="2377440"/>
            <a:ext cx="138466" cy="1051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1C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8950670" y="2377440"/>
            <a:ext cx="1261872" cy="1051560"/>
          </a:xfrm>
          <a:prstGeom prst="roundRect">
            <a:avLst>
              <a:gd name="adj" fmla="val 6957"/>
            </a:avLst>
          </a:prstGeom>
          <a:solidFill>
            <a:srgbClr val="C89B3C"/>
          </a:solidFill>
        </p:spPr>
      </p:sp>
      <p:sp>
        <p:nvSpPr>
          <p:cNvPr id="23" name="Text 21"/>
          <p:cNvSpPr/>
          <p:nvPr/>
        </p:nvSpPr>
        <p:spPr>
          <a:xfrm>
            <a:off x="8996390" y="2377440"/>
            <a:ext cx="1170432" cy="1051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41B4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SHAP</a:t>
            </a:r>
            <a:endParaRPr lang="en-US" sz="100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141B4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Explainability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212542" y="2377440"/>
            <a:ext cx="138466" cy="1051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9AA1C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10351008" y="2377440"/>
            <a:ext cx="1261872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</p:spPr>
      </p:sp>
      <p:sp>
        <p:nvSpPr>
          <p:cNvPr id="26" name="Text 24"/>
          <p:cNvSpPr/>
          <p:nvPr/>
        </p:nvSpPr>
        <p:spPr>
          <a:xfrm>
            <a:off x="10417048" y="2377440"/>
            <a:ext cx="1170432" cy="10515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Comparative</a:t>
            </a:r>
            <a:endParaRPr lang="en-US" sz="1000" dirty="0"/>
          </a:p>
          <a:p>
            <a:pPr marL="0" indent="0" algn="ctr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Evaluation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48640" y="3977640"/>
            <a:ext cx="11064240" cy="1188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400" dirty="0">
                <a:solidFill>
                  <a:srgbClr val="C7CBE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Preprocessed data flows through comparative model training, followed by ensemble stacking of the strongest performers, and finally SHAP-based explanation of the price drivers behind every prediction.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1C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Project Review I  •  House Price Prediction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1C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EXECUTION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Project Plan &amp; Timeline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554480" cy="777240"/>
          </a:xfrm>
          <a:prstGeom prst="roundRect">
            <a:avLst>
              <a:gd name="adj" fmla="val 7059"/>
            </a:avLst>
          </a:prstGeom>
          <a:solidFill>
            <a:srgbClr val="1E2761"/>
          </a:solidFill>
        </p:spPr>
      </p:sp>
      <p:sp>
        <p:nvSpPr>
          <p:cNvPr id="5" name="Text 3"/>
          <p:cNvSpPr/>
          <p:nvPr/>
        </p:nvSpPr>
        <p:spPr>
          <a:xfrm>
            <a:off x="548640" y="1783080"/>
            <a:ext cx="15544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Phase 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194560" y="1783080"/>
            <a:ext cx="941832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423160" y="1783080"/>
            <a:ext cx="896112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Foundational groundwork and literature review (planned activity to be detailed as the project progresses).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70048"/>
            <a:ext cx="1554480" cy="777240"/>
          </a:xfrm>
          <a:prstGeom prst="roundRect">
            <a:avLst>
              <a:gd name="adj" fmla="val 7059"/>
            </a:avLst>
          </a:prstGeom>
          <a:solidFill>
            <a:srgbClr val="1E2761"/>
          </a:solidFill>
        </p:spPr>
      </p:sp>
      <p:sp>
        <p:nvSpPr>
          <p:cNvPr id="9" name="Text 7"/>
          <p:cNvSpPr/>
          <p:nvPr/>
        </p:nvSpPr>
        <p:spPr>
          <a:xfrm>
            <a:off x="548640" y="2670048"/>
            <a:ext cx="15544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Phase 2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194560" y="2670048"/>
            <a:ext cx="941832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23160" y="2670048"/>
            <a:ext cx="896112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Feature engineering and exploratory data analysis; prepare relevant features for model development.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557016"/>
            <a:ext cx="1554480" cy="777240"/>
          </a:xfrm>
          <a:prstGeom prst="roundRect">
            <a:avLst>
              <a:gd name="adj" fmla="val 7059"/>
            </a:avLst>
          </a:prstGeom>
          <a:solidFill>
            <a:srgbClr val="1E2761"/>
          </a:solidFill>
        </p:spPr>
      </p:sp>
      <p:sp>
        <p:nvSpPr>
          <p:cNvPr id="13" name="Text 11"/>
          <p:cNvSpPr/>
          <p:nvPr/>
        </p:nvSpPr>
        <p:spPr>
          <a:xfrm>
            <a:off x="548640" y="3557016"/>
            <a:ext cx="15544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Phase 3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194560" y="3557016"/>
            <a:ext cx="941832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23160" y="3557016"/>
            <a:ext cx="896112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Comparative implementation of Linear Regression, Random Forest, XGBoost and CatBoost (planned activity to be detailed as the project progresses).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443984"/>
            <a:ext cx="1554480" cy="777240"/>
          </a:xfrm>
          <a:prstGeom prst="roundRect">
            <a:avLst>
              <a:gd name="adj" fmla="val 7059"/>
            </a:avLst>
          </a:prstGeom>
          <a:solidFill>
            <a:srgbClr val="1E2761"/>
          </a:solidFill>
        </p:spPr>
      </p:sp>
      <p:sp>
        <p:nvSpPr>
          <p:cNvPr id="17" name="Text 15"/>
          <p:cNvSpPr/>
          <p:nvPr/>
        </p:nvSpPr>
        <p:spPr>
          <a:xfrm>
            <a:off x="548640" y="4443984"/>
            <a:ext cx="15544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Phase 4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194560" y="4443984"/>
            <a:ext cx="941832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23160" y="4443984"/>
            <a:ext cx="896112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Develop and evaluate the Stacking Regressor; compare ensemble performance with individual models; perform SHAP-based explainability and feature analysis.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330952"/>
            <a:ext cx="1554480" cy="777240"/>
          </a:xfrm>
          <a:prstGeom prst="roundRect">
            <a:avLst>
              <a:gd name="adj" fmla="val 7059"/>
            </a:avLst>
          </a:prstGeom>
          <a:solidFill>
            <a:srgbClr val="1E2761"/>
          </a:solidFill>
        </p:spPr>
      </p:sp>
      <p:sp>
        <p:nvSpPr>
          <p:cNvPr id="21" name="Text 19"/>
          <p:cNvSpPr/>
          <p:nvPr/>
        </p:nvSpPr>
        <p:spPr>
          <a:xfrm>
            <a:off x="548640" y="5330952"/>
            <a:ext cx="155448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Phase 5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194560" y="5330952"/>
            <a:ext cx="941832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23160" y="5330952"/>
            <a:ext cx="896112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Testing and final evaluation; analyze results; prepare documentation, report and presentation.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Project Review I  •  House Price Prediction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EXECUTION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Team Details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28320" y="1965960"/>
            <a:ext cx="3566160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828800" y="2331720"/>
            <a:ext cx="1005840" cy="100584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6" name="Text 4"/>
          <p:cNvSpPr/>
          <p:nvPr/>
        </p:nvSpPr>
        <p:spPr>
          <a:xfrm>
            <a:off x="1828800" y="2331720"/>
            <a:ext cx="100584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31520" y="3520440"/>
            <a:ext cx="32004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CH. Shalini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731520" y="393192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4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Roll No. 2420030284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097280" y="4361688"/>
            <a:ext cx="2468880" cy="0"/>
          </a:xfrm>
          <a:prstGeom prst="line">
            <a:avLst/>
          </a:prstGeom>
          <a:noFill/>
          <a:ln w="12700">
            <a:solidFill>
              <a:srgbClr val="E3E5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452628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Literature Survey, Data Preprocessing &amp; Feature Engineering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297680" y="1965960"/>
            <a:ext cx="3566160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577840" y="2331720"/>
            <a:ext cx="1005840" cy="100584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13" name="Text 11"/>
          <p:cNvSpPr/>
          <p:nvPr/>
        </p:nvSpPr>
        <p:spPr>
          <a:xfrm>
            <a:off x="5577840" y="2331720"/>
            <a:ext cx="100584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80560" y="3520440"/>
            <a:ext cx="32004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M. J. U. Harika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4480560" y="393192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4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Roll No. 2420030453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846320" y="4361688"/>
            <a:ext cx="2468880" cy="0"/>
          </a:xfrm>
          <a:prstGeom prst="line">
            <a:avLst/>
          </a:prstGeom>
          <a:noFill/>
          <a:ln w="12700">
            <a:solidFill>
              <a:srgbClr val="E3E5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0" y="452628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ML Model Development, Model Comparison &amp; Ensemble Learning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046720" y="1965960"/>
            <a:ext cx="3566160" cy="356616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E3E5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26880" y="2331720"/>
            <a:ext cx="1005840" cy="100584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20" name="Text 18"/>
          <p:cNvSpPr/>
          <p:nvPr/>
        </p:nvSpPr>
        <p:spPr>
          <a:xfrm>
            <a:off x="9326880" y="2331720"/>
            <a:ext cx="1005840" cy="10058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89B3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229600" y="3520440"/>
            <a:ext cx="320040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E276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K. Aneesha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229600" y="393192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B6482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Roll No. 2420030589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595360" y="4361688"/>
            <a:ext cx="2468880" cy="0"/>
          </a:xfrm>
          <a:prstGeom prst="line">
            <a:avLst/>
          </a:prstGeom>
          <a:noFill/>
          <a:ln w="12700">
            <a:solidFill>
              <a:srgbClr val="E3E5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21040" y="4526280"/>
            <a:ext cx="301752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SHAP Analysis, Result Analysis, Documentation &amp; Presentation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47395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Project Review I  •  House Price Prediction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7295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B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371600"/>
            <a:ext cx="3291840" cy="329184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3" name="Shape 1"/>
          <p:cNvSpPr/>
          <p:nvPr/>
        </p:nvSpPr>
        <p:spPr>
          <a:xfrm>
            <a:off x="10881360" y="-548640"/>
            <a:ext cx="1828800" cy="1828800"/>
          </a:xfrm>
          <a:prstGeom prst="ellipse">
            <a:avLst/>
          </a:prstGeom>
          <a:solidFill>
            <a:srgbClr val="C89B3C"/>
          </a:solidFill>
        </p:spPr>
      </p:sp>
      <p:sp>
        <p:nvSpPr>
          <p:cNvPr id="4" name="Shape 2"/>
          <p:cNvSpPr/>
          <p:nvPr/>
        </p:nvSpPr>
        <p:spPr>
          <a:xfrm>
            <a:off x="-1280160" y="5120640"/>
            <a:ext cx="2926080" cy="2926080"/>
          </a:xfrm>
          <a:prstGeom prst="ellipse">
            <a:avLst/>
          </a:prstGeom>
          <a:solidFill>
            <a:srgbClr val="1E2761"/>
          </a:solidFill>
        </p:spPr>
      </p:sp>
      <p:sp>
        <p:nvSpPr>
          <p:cNvPr id="5" name="Text 3"/>
          <p:cNvSpPr/>
          <p:nvPr/>
        </p:nvSpPr>
        <p:spPr>
          <a:xfrm>
            <a:off x="0" y="283464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0" y="370332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AA1C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Explainable Real Estate Analytics  •  Project Review – I</a:t>
            </a:r>
            <a:endParaRPr lang="en-US" sz="1300" dirty="0"/>
          </a:p>
        </p:txBody>
      </p:sp>
      <p:sp>
        <p:nvSpPr>
          <p:cNvPr id="7" name="Text Box 6"/>
          <p:cNvSpPr txBox="1"/>
          <p:nvPr/>
        </p:nvSpPr>
        <p:spPr>
          <a:xfrm>
            <a:off x="7280275" y="4031615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6559</Words>
  <Application>WPS Presentation</Application>
  <PresentationFormat>On-screen Show (16:9)</PresentationFormat>
  <Paragraphs>294</Paragraphs>
  <Slides>11</Slides>
  <Notes>21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1" baseType="lpstr">
      <vt:lpstr>Arial</vt:lpstr>
      <vt:lpstr>SimSun</vt:lpstr>
      <vt:lpstr>Wingdings</vt:lpstr>
      <vt:lpstr>Calibri</vt:lpstr>
      <vt:lpstr>Calibri</vt:lpstr>
      <vt:lpstr>Calibri</vt:lpstr>
      <vt:lpstr>Microsoft YaHei</vt:lpstr>
      <vt:lpstr>Arial Unicode MS</vt:lpstr>
      <vt:lpstr>Arial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anees</cp:lastModifiedBy>
  <cp:revision>4</cp:revision>
  <dcterms:created xsi:type="dcterms:W3CDTF">2026-08-08T05:39:00Z</dcterms:created>
  <dcterms:modified xsi:type="dcterms:W3CDTF">2026-08-08T06:05:12Z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1033-12.1.0.28032</vt:lpwstr>
  </property>
  <property fmtid="{D5CDD505-2E9C-101B-9397-08002B2CF9AE}" pid="3" name="ICV">
    <vt:lpwstr>4B61D828BFFB44DA9265D8699B956724_12</vt:lpwstr>
  </property>
</Properties>
</file>